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22"/>
  </p:notesMasterIdLst>
  <p:sldIdLst>
    <p:sldId id="256" r:id="rId2"/>
    <p:sldId id="258" r:id="rId3"/>
    <p:sldId id="257" r:id="rId4"/>
    <p:sldId id="259" r:id="rId5"/>
    <p:sldId id="260" r:id="rId6"/>
    <p:sldId id="261" r:id="rId7"/>
    <p:sldId id="262" r:id="rId8"/>
    <p:sldId id="263" r:id="rId9"/>
    <p:sldId id="264" r:id="rId10"/>
    <p:sldId id="274" r:id="rId11"/>
    <p:sldId id="268" r:id="rId12"/>
    <p:sldId id="269" r:id="rId13"/>
    <p:sldId id="270" r:id="rId14"/>
    <p:sldId id="271" r:id="rId15"/>
    <p:sldId id="272" r:id="rId16"/>
    <p:sldId id="273" r:id="rId17"/>
    <p:sldId id="265" r:id="rId18"/>
    <p:sldId id="266" r:id="rId19"/>
    <p:sldId id="275" r:id="rId20"/>
    <p:sldId id="26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57" autoAdjust="0"/>
    <p:restoredTop sz="94660"/>
  </p:normalViewPr>
  <p:slideViewPr>
    <p:cSldViewPr>
      <p:cViewPr varScale="1">
        <p:scale>
          <a:sx n="82" d="100"/>
          <a:sy n="82" d="100"/>
        </p:scale>
        <p:origin x="-1330" y="-91"/>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66" d="100"/>
          <a:sy n="66" d="100"/>
        </p:scale>
        <p:origin x="-3139"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AD5CFE-ED3D-47C6-B22C-49D00AAA9F60}" type="datetimeFigureOut">
              <a:rPr lang="en-IN" smtClean="0"/>
              <a:t>20-11-2025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7445F9-22C0-4464-A588-39924820EC1B}" type="slidenum">
              <a:rPr lang="en-IN" smtClean="0"/>
              <a:t>‹#›</a:t>
            </a:fld>
            <a:endParaRPr lang="en-IN"/>
          </a:p>
        </p:txBody>
      </p:sp>
    </p:spTree>
    <p:extLst>
      <p:ext uri="{BB962C8B-B14F-4D97-AF65-F5344CB8AC3E}">
        <p14:creationId xmlns:p14="http://schemas.microsoft.com/office/powerpoint/2010/main" val="2943823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F7445F9-22C0-4464-A588-39924820EC1B}" type="slidenum">
              <a:rPr lang="en-IN" smtClean="0"/>
              <a:t>2</a:t>
            </a:fld>
            <a:endParaRPr lang="en-IN"/>
          </a:p>
        </p:txBody>
      </p:sp>
    </p:spTree>
    <p:extLst>
      <p:ext uri="{BB962C8B-B14F-4D97-AF65-F5344CB8AC3E}">
        <p14:creationId xmlns:p14="http://schemas.microsoft.com/office/powerpoint/2010/main" val="346529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3F73041E-A1DA-4278-AC7C-6C83B04CF0D4}" type="datetimeFigureOut">
              <a:rPr lang="en-IN" smtClean="0"/>
              <a:t>20-11-2025</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a:lstStyle/>
          <a:p>
            <a:fld id="{310D53C4-7D97-47E5-9339-18660C45DA64}" type="slidenum">
              <a:rPr lang="en-IN" smtClean="0"/>
              <a:t>‹#›</a:t>
            </a:fld>
            <a:endParaRPr lang="en-IN"/>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F73041E-A1DA-4278-AC7C-6C83B04CF0D4}"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0D53C4-7D97-47E5-9339-18660C45DA64}"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F73041E-A1DA-4278-AC7C-6C83B04CF0D4}"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7924800" y="6416675"/>
            <a:ext cx="762000" cy="365125"/>
          </a:xfrm>
        </p:spPr>
        <p:txBody>
          <a:bodyPr/>
          <a:lstStyle/>
          <a:p>
            <a:fld id="{310D53C4-7D97-47E5-9339-18660C45DA64}" type="slidenum">
              <a:rPr lang="en-IN" smtClean="0"/>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F73041E-A1DA-4278-AC7C-6C83B04CF0D4}"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0D53C4-7D97-47E5-9339-18660C45DA64}"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F73041E-A1DA-4278-AC7C-6C83B04CF0D4}"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0D53C4-7D97-47E5-9339-18660C45DA64}"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F73041E-A1DA-4278-AC7C-6C83B04CF0D4}"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0D53C4-7D97-47E5-9339-18660C45DA64}"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73041E-A1DA-4278-AC7C-6C83B04CF0D4}"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10D53C4-7D97-47E5-9339-18660C45DA64}"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F73041E-A1DA-4278-AC7C-6C83B04CF0D4}"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0D53C4-7D97-47E5-9339-18660C45DA64}"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F73041E-A1DA-4278-AC7C-6C83B04CF0D4}"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0D53C4-7D97-47E5-9339-18660C45DA64}"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F73041E-A1DA-4278-AC7C-6C83B04CF0D4}"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0D53C4-7D97-47E5-9339-18660C45DA64}"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F73041E-A1DA-4278-AC7C-6C83B04CF0D4}"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0D53C4-7D97-47E5-9339-18660C45DA64}"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3F73041E-A1DA-4278-AC7C-6C83B04CF0D4}" type="datetimeFigureOut">
              <a:rPr lang="en-IN" smtClean="0"/>
              <a:t>20-11-2025</a:t>
            </a:fld>
            <a:endParaRPr lang="en-IN"/>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IN"/>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310D53C4-7D97-47E5-9339-18660C45DA64}"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Cambria" pitchFamily="18" charset="0"/>
                <a:ea typeface="Cambria" pitchFamily="18" charset="0"/>
              </a:rPr>
              <a:t>Sales Analysis</a:t>
            </a:r>
            <a:endParaRPr lang="en-IN" dirty="0">
              <a:latin typeface="Cambria" pitchFamily="18" charset="0"/>
              <a:ea typeface="Cambria" pitchFamily="18"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9552" y="2420888"/>
            <a:ext cx="1576206" cy="792088"/>
          </a:xfrm>
          <a:prstGeom prst="rect">
            <a:avLst/>
          </a:prstGeom>
        </p:spPr>
      </p:pic>
    </p:spTree>
    <p:extLst>
      <p:ext uri="{BB962C8B-B14F-4D97-AF65-F5344CB8AC3E}">
        <p14:creationId xmlns:p14="http://schemas.microsoft.com/office/powerpoint/2010/main" val="17616034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Introduction</a:t>
            </a:r>
            <a:endParaRPr lang="en-IN" dirty="0"/>
          </a:p>
        </p:txBody>
      </p:sp>
      <p:sp>
        <p:nvSpPr>
          <p:cNvPr id="3" name="Content Placeholder 2"/>
          <p:cNvSpPr>
            <a:spLocks noGrp="1"/>
          </p:cNvSpPr>
          <p:nvPr>
            <p:ph idx="1"/>
          </p:nvPr>
        </p:nvSpPr>
        <p:spPr>
          <a:xfrm>
            <a:off x="467544" y="2132856"/>
            <a:ext cx="8229600" cy="2908920"/>
          </a:xfrm>
        </p:spPr>
        <p:txBody>
          <a:bodyPr>
            <a:normAutofit fontScale="92500" lnSpcReduction="20000"/>
          </a:bodyPr>
          <a:lstStyle/>
          <a:p>
            <a:pPr marL="137160" indent="0">
              <a:buNone/>
            </a:pPr>
            <a:r>
              <a:rPr lang="en-US" dirty="0"/>
              <a:t>This project analyzes Amazon’s Diwali sales data to understand customer </a:t>
            </a:r>
            <a:r>
              <a:rPr lang="en-US" dirty="0" err="1"/>
              <a:t>behaviour</a:t>
            </a:r>
            <a:r>
              <a:rPr lang="en-US" dirty="0"/>
              <a:t>, feedback, and sales performance. Using Python for data cleaning and exploratory analysis, and Power BI for interactive dashboard creation, it uncovers insights on revenue trends, customer ratings, discount impact, and delivery performance to support data-driven business </a:t>
            </a:r>
            <a:r>
              <a:rPr lang="en-US" dirty="0" smtClean="0"/>
              <a:t>decisions.</a:t>
            </a:r>
            <a:endParaRPr lang="en-IN" dirty="0"/>
          </a:p>
        </p:txBody>
      </p:sp>
    </p:spTree>
    <p:extLst>
      <p:ext uri="{BB962C8B-B14F-4D97-AF65-F5344CB8AC3E}">
        <p14:creationId xmlns:p14="http://schemas.microsoft.com/office/powerpoint/2010/main" val="12159873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Tech &amp; Skills</a:t>
            </a:r>
            <a:endParaRPr lang="en-IN" sz="3200" dirty="0"/>
          </a:p>
        </p:txBody>
      </p:sp>
      <p:sp>
        <p:nvSpPr>
          <p:cNvPr id="6" name="Rounded Rectangle 5"/>
          <p:cNvSpPr/>
          <p:nvPr/>
        </p:nvSpPr>
        <p:spPr>
          <a:xfrm>
            <a:off x="399187" y="1945838"/>
            <a:ext cx="3960440" cy="2952328"/>
          </a:xfrm>
          <a:prstGeom prst="roundRect">
            <a:avLst/>
          </a:prstGeom>
        </p:spPr>
        <p:style>
          <a:lnRef idx="0">
            <a:schemeClr val="accent2"/>
          </a:lnRef>
          <a:fillRef idx="3">
            <a:schemeClr val="accent2"/>
          </a:fillRef>
          <a:effectRef idx="3">
            <a:schemeClr val="accent2"/>
          </a:effectRef>
          <a:fontRef idx="minor">
            <a:schemeClr val="lt1"/>
          </a:fontRef>
        </p:style>
        <p:txBody>
          <a:bodyPr rtlCol="0" anchor="t"/>
          <a:lstStyle/>
          <a:p>
            <a:pPr algn="ctr"/>
            <a:r>
              <a:rPr lang="en-US" b="1" dirty="0" smtClean="0">
                <a:solidFill>
                  <a:srgbClr val="002060"/>
                </a:solidFill>
              </a:rPr>
              <a:t>Python</a:t>
            </a:r>
          </a:p>
          <a:p>
            <a:pPr algn="ctr"/>
            <a:endParaRPr lang="en-US" b="1" dirty="0">
              <a:solidFill>
                <a:srgbClr val="002060"/>
              </a:solidFill>
            </a:endParaRPr>
          </a:p>
          <a:p>
            <a:pPr algn="ctr"/>
            <a:r>
              <a:rPr lang="en-US" b="1" dirty="0" smtClean="0">
                <a:solidFill>
                  <a:srgbClr val="002060"/>
                </a:solidFill>
              </a:rPr>
              <a:t>                                                       </a:t>
            </a:r>
          </a:p>
          <a:p>
            <a:pPr algn="ctr"/>
            <a:endParaRPr lang="en-US" b="1" dirty="0">
              <a:solidFill>
                <a:srgbClr val="002060"/>
              </a:solidFill>
            </a:endParaRPr>
          </a:p>
          <a:p>
            <a:pPr algn="ctr"/>
            <a:endParaRPr lang="en-US" b="1" dirty="0" smtClean="0">
              <a:solidFill>
                <a:srgbClr val="002060"/>
              </a:solidFill>
            </a:endParaRPr>
          </a:p>
          <a:p>
            <a:pPr algn="ctr"/>
            <a:r>
              <a:rPr lang="en-US" dirty="0" smtClean="0"/>
              <a:t> </a:t>
            </a:r>
            <a:endParaRPr lang="en-IN" dirty="0"/>
          </a:p>
        </p:txBody>
      </p:sp>
      <p:sp>
        <p:nvSpPr>
          <p:cNvPr id="3" name="TextBox 2"/>
          <p:cNvSpPr txBox="1"/>
          <p:nvPr/>
        </p:nvSpPr>
        <p:spPr>
          <a:xfrm>
            <a:off x="899592" y="2780928"/>
            <a:ext cx="2880320" cy="1077218"/>
          </a:xfrm>
          <a:prstGeom prst="rect">
            <a:avLst/>
          </a:prstGeom>
          <a:noFill/>
        </p:spPr>
        <p:txBody>
          <a:bodyPr wrap="square" rtlCol="0">
            <a:spAutoFit/>
          </a:bodyPr>
          <a:lstStyle/>
          <a:p>
            <a:pPr marL="285750" indent="-285750">
              <a:buFont typeface="Arial" pitchFamily="34" charset="0"/>
              <a:buChar char="•"/>
            </a:pPr>
            <a:r>
              <a:rPr lang="en-IN" sz="1600" dirty="0">
                <a:solidFill>
                  <a:schemeClr val="bg1"/>
                </a:solidFill>
              </a:rPr>
              <a:t>Pandas, </a:t>
            </a:r>
            <a:r>
              <a:rPr lang="en-IN" sz="1600" dirty="0" err="1" smtClean="0">
                <a:solidFill>
                  <a:schemeClr val="bg1"/>
                </a:solidFill>
              </a:rPr>
              <a:t>NumPy</a:t>
            </a:r>
            <a:endParaRPr lang="en-IN" sz="1600" dirty="0" smtClean="0">
              <a:solidFill>
                <a:schemeClr val="bg1"/>
              </a:solidFill>
            </a:endParaRPr>
          </a:p>
          <a:p>
            <a:pPr marL="285750" indent="-285750">
              <a:buFont typeface="Arial" pitchFamily="34" charset="0"/>
              <a:buChar char="•"/>
            </a:pPr>
            <a:r>
              <a:rPr lang="en-IN" sz="1600" dirty="0" err="1">
                <a:solidFill>
                  <a:schemeClr val="bg1"/>
                </a:solidFill>
              </a:rPr>
              <a:t>Matplotlib</a:t>
            </a:r>
            <a:r>
              <a:rPr lang="en-IN" sz="1600" dirty="0">
                <a:solidFill>
                  <a:schemeClr val="bg1"/>
                </a:solidFill>
              </a:rPr>
              <a:t>, </a:t>
            </a:r>
            <a:r>
              <a:rPr lang="en-IN" sz="1600" dirty="0" err="1" smtClean="0">
                <a:solidFill>
                  <a:schemeClr val="bg1"/>
                </a:solidFill>
              </a:rPr>
              <a:t>Seaborn</a:t>
            </a:r>
            <a:endParaRPr lang="en-IN" sz="1600" dirty="0" smtClean="0">
              <a:solidFill>
                <a:schemeClr val="bg1"/>
              </a:solidFill>
            </a:endParaRPr>
          </a:p>
          <a:p>
            <a:pPr marL="285750" indent="-285750">
              <a:buFont typeface="Arial" pitchFamily="34" charset="0"/>
              <a:buChar char="•"/>
            </a:pPr>
            <a:r>
              <a:rPr lang="en-IN" sz="1600" dirty="0">
                <a:solidFill>
                  <a:schemeClr val="bg1"/>
                </a:solidFill>
              </a:rPr>
              <a:t>EDA, Data </a:t>
            </a:r>
            <a:r>
              <a:rPr lang="en-IN" sz="1600" dirty="0" smtClean="0">
                <a:solidFill>
                  <a:schemeClr val="bg1"/>
                </a:solidFill>
              </a:rPr>
              <a:t>Cleaning</a:t>
            </a:r>
          </a:p>
          <a:p>
            <a:pPr marL="285750" indent="-285750">
              <a:buFont typeface="Arial" pitchFamily="34" charset="0"/>
              <a:buChar char="•"/>
            </a:pPr>
            <a:r>
              <a:rPr lang="en-IN" sz="1600" dirty="0">
                <a:solidFill>
                  <a:schemeClr val="bg1"/>
                </a:solidFill>
              </a:rPr>
              <a:t>Business Insights</a:t>
            </a:r>
          </a:p>
        </p:txBody>
      </p:sp>
      <p:sp>
        <p:nvSpPr>
          <p:cNvPr id="9" name="Rounded Rectangle 8"/>
          <p:cNvSpPr/>
          <p:nvPr/>
        </p:nvSpPr>
        <p:spPr>
          <a:xfrm>
            <a:off x="4755143" y="1945838"/>
            <a:ext cx="3960440" cy="2952328"/>
          </a:xfrm>
          <a:prstGeom prst="roundRect">
            <a:avLst/>
          </a:prstGeom>
        </p:spPr>
        <p:style>
          <a:lnRef idx="0">
            <a:schemeClr val="accent2"/>
          </a:lnRef>
          <a:fillRef idx="3">
            <a:schemeClr val="accent2"/>
          </a:fillRef>
          <a:effectRef idx="3">
            <a:schemeClr val="accent2"/>
          </a:effectRef>
          <a:fontRef idx="minor">
            <a:schemeClr val="lt1"/>
          </a:fontRef>
        </p:style>
        <p:txBody>
          <a:bodyPr rtlCol="0" anchor="t"/>
          <a:lstStyle/>
          <a:p>
            <a:pPr algn="ctr"/>
            <a:r>
              <a:rPr lang="en-US" b="1" dirty="0" smtClean="0">
                <a:solidFill>
                  <a:srgbClr val="002060"/>
                </a:solidFill>
              </a:rPr>
              <a:t>Power Bi</a:t>
            </a:r>
          </a:p>
          <a:p>
            <a:pPr algn="ctr"/>
            <a:endParaRPr lang="en-US" b="1" dirty="0">
              <a:solidFill>
                <a:srgbClr val="002060"/>
              </a:solidFill>
            </a:endParaRPr>
          </a:p>
          <a:p>
            <a:pPr algn="ctr"/>
            <a:r>
              <a:rPr lang="en-US" b="1" dirty="0" smtClean="0">
                <a:solidFill>
                  <a:srgbClr val="002060"/>
                </a:solidFill>
              </a:rPr>
              <a:t>                                                       </a:t>
            </a:r>
          </a:p>
          <a:p>
            <a:pPr algn="ctr"/>
            <a:endParaRPr lang="en-US" b="1" dirty="0">
              <a:solidFill>
                <a:srgbClr val="002060"/>
              </a:solidFill>
            </a:endParaRPr>
          </a:p>
          <a:p>
            <a:pPr algn="ctr"/>
            <a:endParaRPr lang="en-US" b="1" dirty="0" smtClean="0">
              <a:solidFill>
                <a:srgbClr val="002060"/>
              </a:solidFill>
            </a:endParaRPr>
          </a:p>
          <a:p>
            <a:pPr algn="ctr"/>
            <a:r>
              <a:rPr lang="en-US" dirty="0" smtClean="0"/>
              <a:t> </a:t>
            </a:r>
            <a:endParaRPr lang="en-IN" dirty="0"/>
          </a:p>
        </p:txBody>
      </p:sp>
      <p:sp>
        <p:nvSpPr>
          <p:cNvPr id="4" name="TextBox 3"/>
          <p:cNvSpPr txBox="1"/>
          <p:nvPr/>
        </p:nvSpPr>
        <p:spPr>
          <a:xfrm>
            <a:off x="5364088" y="2780928"/>
            <a:ext cx="2742550" cy="1077218"/>
          </a:xfrm>
          <a:prstGeom prst="rect">
            <a:avLst/>
          </a:prstGeom>
          <a:noFill/>
        </p:spPr>
        <p:txBody>
          <a:bodyPr wrap="square" rtlCol="0">
            <a:spAutoFit/>
          </a:bodyPr>
          <a:lstStyle/>
          <a:p>
            <a:pPr marL="285750" indent="-285750">
              <a:buFont typeface="Arial" pitchFamily="34" charset="0"/>
              <a:buChar char="•"/>
            </a:pPr>
            <a:r>
              <a:rPr lang="en-IN" sz="1600" dirty="0">
                <a:solidFill>
                  <a:schemeClr val="bg1"/>
                </a:solidFill>
              </a:rPr>
              <a:t>Dashboard </a:t>
            </a:r>
            <a:r>
              <a:rPr lang="en-IN" sz="1600" dirty="0" smtClean="0">
                <a:solidFill>
                  <a:schemeClr val="bg1"/>
                </a:solidFill>
              </a:rPr>
              <a:t>Design</a:t>
            </a:r>
          </a:p>
          <a:p>
            <a:pPr marL="285750" indent="-285750">
              <a:buFont typeface="Arial" pitchFamily="34" charset="0"/>
              <a:buChar char="•"/>
            </a:pPr>
            <a:r>
              <a:rPr lang="en-IN" sz="1600" dirty="0">
                <a:solidFill>
                  <a:schemeClr val="bg1"/>
                </a:solidFill>
              </a:rPr>
              <a:t>DAX, Data </a:t>
            </a:r>
            <a:r>
              <a:rPr lang="en-IN" sz="1600" dirty="0" smtClean="0">
                <a:solidFill>
                  <a:schemeClr val="bg1"/>
                </a:solidFill>
              </a:rPr>
              <a:t>Modelling</a:t>
            </a:r>
          </a:p>
          <a:p>
            <a:pPr marL="285750" indent="-285750">
              <a:buFont typeface="Arial" pitchFamily="34" charset="0"/>
              <a:buChar char="•"/>
            </a:pPr>
            <a:r>
              <a:rPr lang="en-IN" sz="1600" dirty="0">
                <a:solidFill>
                  <a:schemeClr val="bg1"/>
                </a:solidFill>
              </a:rPr>
              <a:t>KPIs, </a:t>
            </a:r>
            <a:r>
              <a:rPr lang="en-IN" sz="1600" dirty="0" smtClean="0">
                <a:solidFill>
                  <a:schemeClr val="bg1"/>
                </a:solidFill>
              </a:rPr>
              <a:t>Slicers</a:t>
            </a:r>
          </a:p>
          <a:p>
            <a:pPr marL="285750" indent="-285750">
              <a:buFont typeface="Arial" pitchFamily="34" charset="0"/>
              <a:buChar char="•"/>
            </a:pPr>
            <a:r>
              <a:rPr lang="en-IN" sz="1600" dirty="0">
                <a:solidFill>
                  <a:schemeClr val="bg1"/>
                </a:solidFill>
              </a:rPr>
              <a:t>Visual Storytelling</a:t>
            </a:r>
          </a:p>
        </p:txBody>
      </p:sp>
    </p:spTree>
    <p:extLst>
      <p:ext uri="{BB962C8B-B14F-4D97-AF65-F5344CB8AC3E}">
        <p14:creationId xmlns:p14="http://schemas.microsoft.com/office/powerpoint/2010/main" val="41690117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Distribution of Price</a:t>
            </a:r>
            <a:endParaRPr lang="en-IN" sz="3200"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44008" y="1916832"/>
            <a:ext cx="4147162"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21298" y="2485188"/>
            <a:ext cx="4378694" cy="1323439"/>
          </a:xfrm>
          <a:prstGeom prst="rect">
            <a:avLst/>
          </a:prstGeom>
          <a:noFill/>
        </p:spPr>
        <p:txBody>
          <a:bodyPr wrap="square" rtlCol="0">
            <a:spAutoFit/>
          </a:bodyPr>
          <a:lstStyle/>
          <a:p>
            <a:pPr marL="285750" indent="-285750">
              <a:buFont typeface="Arial" pitchFamily="34" charset="0"/>
              <a:buChar char="•"/>
            </a:pPr>
            <a:r>
              <a:rPr lang="en-US" sz="1600" dirty="0">
                <a:solidFill>
                  <a:schemeClr val="bg1"/>
                </a:solidFill>
              </a:rPr>
              <a:t>Right-skewed distribution → majority revenue comes from </a:t>
            </a:r>
            <a:r>
              <a:rPr lang="en-US" sz="1600" b="1" dirty="0">
                <a:solidFill>
                  <a:schemeClr val="bg1"/>
                </a:solidFill>
              </a:rPr>
              <a:t>a small number of high-value orders</a:t>
            </a:r>
            <a:r>
              <a:rPr lang="en-US" sz="1600" dirty="0" smtClean="0">
                <a:solidFill>
                  <a:schemeClr val="bg1"/>
                </a:solidFill>
              </a:rPr>
              <a:t>.</a:t>
            </a:r>
          </a:p>
          <a:p>
            <a:pPr marL="285750" indent="-285750">
              <a:buFont typeface="Arial" pitchFamily="34" charset="0"/>
              <a:buChar char="•"/>
            </a:pPr>
            <a:r>
              <a:rPr lang="en-US" sz="1600" dirty="0">
                <a:solidFill>
                  <a:schemeClr val="bg1"/>
                </a:solidFill>
              </a:rPr>
              <a:t>Normal range orders produce consistent but smaller sales</a:t>
            </a:r>
            <a:r>
              <a:rPr lang="en-US" sz="1600" dirty="0"/>
              <a:t>.</a:t>
            </a:r>
            <a:endParaRPr lang="en-IN" sz="1600" dirty="0"/>
          </a:p>
        </p:txBody>
      </p:sp>
    </p:spTree>
    <p:extLst>
      <p:ext uri="{BB962C8B-B14F-4D97-AF65-F5344CB8AC3E}">
        <p14:creationId xmlns:p14="http://schemas.microsoft.com/office/powerpoint/2010/main" val="22416977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Correlation </a:t>
            </a:r>
            <a:r>
              <a:rPr lang="en-US" sz="3200" dirty="0" err="1" smtClean="0"/>
              <a:t>Heatmap</a:t>
            </a:r>
            <a:endParaRPr lang="en-IN" sz="3200"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16016" y="1916833"/>
            <a:ext cx="4054605" cy="3312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61257" y="1844824"/>
            <a:ext cx="3672408" cy="3847207"/>
          </a:xfrm>
          <a:prstGeom prst="rect">
            <a:avLst/>
          </a:prstGeom>
          <a:noFill/>
        </p:spPr>
        <p:txBody>
          <a:bodyPr wrap="square" rtlCol="0">
            <a:spAutoFit/>
          </a:bodyPr>
          <a:lstStyle/>
          <a:p>
            <a:r>
              <a:rPr lang="en-IN" sz="1600" b="1" dirty="0">
                <a:solidFill>
                  <a:srgbClr val="002060"/>
                </a:solidFill>
              </a:rPr>
              <a:t>Strong correlations</a:t>
            </a:r>
            <a:r>
              <a:rPr lang="en-IN" sz="1600" dirty="0" smtClean="0">
                <a:solidFill>
                  <a:srgbClr val="002060"/>
                </a:solidFill>
              </a:rPr>
              <a:t>:</a:t>
            </a:r>
          </a:p>
          <a:p>
            <a:pPr marL="285750" indent="-285750">
              <a:buFont typeface="Arial" pitchFamily="34" charset="0"/>
              <a:buChar char="•"/>
            </a:pPr>
            <a:r>
              <a:rPr lang="en-US" sz="1600" b="1" dirty="0" err="1">
                <a:solidFill>
                  <a:schemeClr val="bg1"/>
                </a:solidFill>
              </a:rPr>
              <a:t>Unit_Price_INR</a:t>
            </a:r>
            <a:r>
              <a:rPr lang="en-US" sz="1600" b="1" dirty="0">
                <a:solidFill>
                  <a:schemeClr val="bg1"/>
                </a:solidFill>
              </a:rPr>
              <a:t> ↔ </a:t>
            </a:r>
            <a:r>
              <a:rPr lang="en-US" sz="1600" b="1" dirty="0" err="1">
                <a:solidFill>
                  <a:schemeClr val="bg1"/>
                </a:solidFill>
              </a:rPr>
              <a:t>Total_Sales_INR</a:t>
            </a:r>
            <a:r>
              <a:rPr lang="en-US" sz="1600" b="1" dirty="0">
                <a:solidFill>
                  <a:schemeClr val="bg1"/>
                </a:solidFill>
              </a:rPr>
              <a:t> (0.72)</a:t>
            </a:r>
            <a:r>
              <a:rPr lang="en-US" sz="1600" dirty="0">
                <a:solidFill>
                  <a:schemeClr val="bg1"/>
                </a:solidFill>
              </a:rPr>
              <a:t/>
            </a:r>
            <a:br>
              <a:rPr lang="en-US" sz="1600" dirty="0">
                <a:solidFill>
                  <a:schemeClr val="bg1"/>
                </a:solidFill>
              </a:rPr>
            </a:br>
            <a:r>
              <a:rPr lang="en-US" sz="1600" dirty="0">
                <a:solidFill>
                  <a:schemeClr val="bg1"/>
                </a:solidFill>
              </a:rPr>
              <a:t>Higher-priced items contribute more to revenue</a:t>
            </a:r>
            <a:r>
              <a:rPr lang="en-US" sz="1600" dirty="0" smtClean="0">
                <a:solidFill>
                  <a:schemeClr val="bg1"/>
                </a:solidFill>
              </a:rPr>
              <a:t>.</a:t>
            </a:r>
          </a:p>
          <a:p>
            <a:pPr marL="285750" indent="-285750">
              <a:buFont typeface="Arial" pitchFamily="34" charset="0"/>
              <a:buChar char="•"/>
            </a:pPr>
            <a:r>
              <a:rPr lang="en-US" sz="1600" b="1" dirty="0">
                <a:solidFill>
                  <a:schemeClr val="bg1"/>
                </a:solidFill>
              </a:rPr>
              <a:t>Quantity ↔ </a:t>
            </a:r>
            <a:r>
              <a:rPr lang="en-US" sz="1600" b="1" dirty="0" err="1">
                <a:solidFill>
                  <a:schemeClr val="bg1"/>
                </a:solidFill>
              </a:rPr>
              <a:t>Total_Sales_INR</a:t>
            </a:r>
            <a:r>
              <a:rPr lang="en-US" sz="1600" b="1" dirty="0">
                <a:solidFill>
                  <a:schemeClr val="bg1"/>
                </a:solidFill>
              </a:rPr>
              <a:t> (0.60)</a:t>
            </a:r>
            <a:r>
              <a:rPr lang="en-US" sz="1600" dirty="0">
                <a:solidFill>
                  <a:schemeClr val="bg1"/>
                </a:solidFill>
              </a:rPr>
              <a:t/>
            </a:r>
            <a:br>
              <a:rPr lang="en-US" sz="1600" dirty="0">
                <a:solidFill>
                  <a:schemeClr val="bg1"/>
                </a:solidFill>
              </a:rPr>
            </a:br>
            <a:r>
              <a:rPr lang="en-US" sz="1600" dirty="0">
                <a:solidFill>
                  <a:schemeClr val="bg1"/>
                </a:solidFill>
              </a:rPr>
              <a:t>Total sales increase when more units are purchased</a:t>
            </a:r>
            <a:r>
              <a:rPr lang="en-US" sz="1600" dirty="0" smtClean="0">
                <a:solidFill>
                  <a:schemeClr val="bg1"/>
                </a:solidFill>
              </a:rPr>
              <a:t>.</a:t>
            </a:r>
          </a:p>
          <a:p>
            <a:pPr marL="285750" indent="-285750">
              <a:buFont typeface="Arial" pitchFamily="34" charset="0"/>
              <a:buChar char="•"/>
            </a:pPr>
            <a:endParaRPr lang="en-US" sz="1600" dirty="0"/>
          </a:p>
          <a:p>
            <a:r>
              <a:rPr lang="en-IN" sz="1600" dirty="0">
                <a:solidFill>
                  <a:srgbClr val="FF0000"/>
                </a:solidFill>
              </a:rPr>
              <a:t>No </a:t>
            </a:r>
            <a:r>
              <a:rPr lang="en-IN" sz="1600" dirty="0" smtClean="0">
                <a:solidFill>
                  <a:srgbClr val="FF0000"/>
                </a:solidFill>
              </a:rPr>
              <a:t>correlation:</a:t>
            </a:r>
          </a:p>
          <a:p>
            <a:pPr marL="285750" indent="-285750">
              <a:buFont typeface="Arial" pitchFamily="34" charset="0"/>
              <a:buChar char="•"/>
            </a:pPr>
            <a:r>
              <a:rPr lang="en-US" sz="1600" b="1" dirty="0" err="1" smtClean="0">
                <a:solidFill>
                  <a:schemeClr val="bg1"/>
                </a:solidFill>
              </a:rPr>
              <a:t>Review_Rating</a:t>
            </a:r>
            <a:r>
              <a:rPr lang="en-US" sz="1600" dirty="0" smtClean="0">
                <a:solidFill>
                  <a:schemeClr val="bg1"/>
                </a:solidFill>
              </a:rPr>
              <a:t> </a:t>
            </a:r>
            <a:r>
              <a:rPr lang="en-US" sz="1600" dirty="0">
                <a:solidFill>
                  <a:schemeClr val="bg1"/>
                </a:solidFill>
              </a:rPr>
              <a:t>has no relationship with revenue</a:t>
            </a:r>
            <a:r>
              <a:rPr lang="en-US" sz="1600" dirty="0" smtClean="0">
                <a:solidFill>
                  <a:schemeClr val="bg1"/>
                </a:solidFill>
              </a:rPr>
              <a:t>.</a:t>
            </a:r>
          </a:p>
          <a:p>
            <a:pPr marL="285750" indent="-285750">
              <a:buFont typeface="Arial" pitchFamily="34" charset="0"/>
              <a:buChar char="•"/>
            </a:pPr>
            <a:r>
              <a:rPr lang="en-US" sz="1600" b="1" dirty="0">
                <a:solidFill>
                  <a:schemeClr val="bg1"/>
                </a:solidFill>
              </a:rPr>
              <a:t>Days</a:t>
            </a:r>
            <a:r>
              <a:rPr lang="en-US" sz="1600" dirty="0">
                <a:solidFill>
                  <a:schemeClr val="bg1"/>
                </a:solidFill>
              </a:rPr>
              <a:t> does not affect pricing, reviews, or total sales.</a:t>
            </a:r>
            <a:endParaRPr lang="en-IN" sz="1600" dirty="0" smtClean="0">
              <a:solidFill>
                <a:schemeClr val="bg1"/>
              </a:solidFill>
            </a:endParaRPr>
          </a:p>
        </p:txBody>
      </p:sp>
    </p:spTree>
    <p:extLst>
      <p:ext uri="{BB962C8B-B14F-4D97-AF65-F5344CB8AC3E}">
        <p14:creationId xmlns:p14="http://schemas.microsoft.com/office/powerpoint/2010/main" val="30834814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Top Performing Product</a:t>
            </a:r>
            <a:endParaRPr lang="en-IN" sz="3200"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99992" y="2060848"/>
            <a:ext cx="4438937"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1662" y="1268760"/>
            <a:ext cx="4438329" cy="5047536"/>
          </a:xfrm>
          <a:prstGeom prst="rect">
            <a:avLst/>
          </a:prstGeom>
          <a:noFill/>
        </p:spPr>
        <p:txBody>
          <a:bodyPr wrap="square" rtlCol="0">
            <a:spAutoFit/>
          </a:bodyPr>
          <a:lstStyle/>
          <a:p>
            <a:r>
              <a:rPr lang="en-US" b="1" dirty="0">
                <a:solidFill>
                  <a:srgbClr val="002060"/>
                </a:solidFill>
              </a:rPr>
              <a:t>⭐ Beauty (₹22.75 Cr)</a:t>
            </a:r>
          </a:p>
          <a:p>
            <a:r>
              <a:rPr lang="en-US" sz="1600" dirty="0">
                <a:solidFill>
                  <a:schemeClr val="bg1"/>
                </a:solidFill>
              </a:rPr>
              <a:t>Highest revenue — strong demand for personal care &amp; festive gifting </a:t>
            </a:r>
            <a:r>
              <a:rPr lang="en-US" sz="1600" dirty="0" smtClean="0">
                <a:solidFill>
                  <a:schemeClr val="bg1"/>
                </a:solidFill>
              </a:rPr>
              <a:t>items.</a:t>
            </a:r>
          </a:p>
          <a:p>
            <a:endParaRPr lang="en-US" sz="1600" dirty="0" smtClean="0"/>
          </a:p>
          <a:p>
            <a:r>
              <a:rPr lang="en-US" sz="1600" b="1" dirty="0">
                <a:solidFill>
                  <a:srgbClr val="002060"/>
                </a:solidFill>
              </a:rPr>
              <a:t>⭐ Books (₹22.50 Cr)</a:t>
            </a:r>
          </a:p>
          <a:p>
            <a:r>
              <a:rPr lang="en-US" sz="1600" dirty="0">
                <a:solidFill>
                  <a:schemeClr val="bg1"/>
                </a:solidFill>
              </a:rPr>
              <a:t>Strong performance due to gifting, education, and learning-related demand.</a:t>
            </a:r>
          </a:p>
          <a:p>
            <a:endParaRPr lang="en-US" sz="1600" dirty="0" smtClean="0"/>
          </a:p>
          <a:p>
            <a:r>
              <a:rPr lang="en-US" sz="1600" b="1" dirty="0">
                <a:solidFill>
                  <a:srgbClr val="002060"/>
                </a:solidFill>
              </a:rPr>
              <a:t>⭐ Clothing (₹22.24 Cr)</a:t>
            </a:r>
          </a:p>
          <a:p>
            <a:r>
              <a:rPr lang="en-US" sz="1600" dirty="0">
                <a:solidFill>
                  <a:schemeClr val="bg1"/>
                </a:solidFill>
              </a:rPr>
              <a:t>Steady apparel purchases during festive season.</a:t>
            </a:r>
          </a:p>
          <a:p>
            <a:endParaRPr lang="en-US" sz="1600" dirty="0"/>
          </a:p>
          <a:p>
            <a:r>
              <a:rPr lang="en-US" sz="1600" b="1" dirty="0">
                <a:solidFill>
                  <a:srgbClr val="002060"/>
                </a:solidFill>
              </a:rPr>
              <a:t>⭐ Electronics (₹22.66 Cr)</a:t>
            </a:r>
          </a:p>
          <a:p>
            <a:r>
              <a:rPr lang="en-US" sz="1600" dirty="0">
                <a:solidFill>
                  <a:schemeClr val="bg1"/>
                </a:solidFill>
              </a:rPr>
              <a:t>High-value electronics drive major festive purchases.</a:t>
            </a:r>
          </a:p>
          <a:p>
            <a:endParaRPr lang="en-US" sz="1600" dirty="0" smtClean="0"/>
          </a:p>
          <a:p>
            <a:r>
              <a:rPr lang="en-US" sz="1600" b="1" dirty="0">
                <a:solidFill>
                  <a:srgbClr val="002060"/>
                </a:solidFill>
              </a:rPr>
              <a:t>⭐ Home &amp; Kitchen (₹21.67 Cr</a:t>
            </a:r>
            <a:r>
              <a:rPr lang="en-US" sz="1600" b="1" dirty="0" smtClean="0">
                <a:solidFill>
                  <a:srgbClr val="002060"/>
                </a:solidFill>
              </a:rPr>
              <a:t>)</a:t>
            </a:r>
            <a:endParaRPr lang="en-US" sz="1600" b="1" dirty="0">
              <a:solidFill>
                <a:srgbClr val="002060"/>
              </a:solidFill>
            </a:endParaRPr>
          </a:p>
          <a:p>
            <a:r>
              <a:rPr lang="en-US" sz="1600" dirty="0">
                <a:solidFill>
                  <a:schemeClr val="bg1"/>
                </a:solidFill>
              </a:rPr>
              <a:t>Consistent demand for practical household essentials.</a:t>
            </a:r>
          </a:p>
          <a:p>
            <a:endParaRPr lang="en-US" sz="1600" dirty="0"/>
          </a:p>
        </p:txBody>
      </p:sp>
    </p:spTree>
    <p:extLst>
      <p:ext uri="{BB962C8B-B14F-4D97-AF65-F5344CB8AC3E}">
        <p14:creationId xmlns:p14="http://schemas.microsoft.com/office/powerpoint/2010/main" val="4442130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Top Performing of Best 5 Products</a:t>
            </a:r>
            <a:endParaRPr lang="en-IN" sz="3200"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99992" y="1988841"/>
            <a:ext cx="4476760"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07504" y="1340768"/>
            <a:ext cx="4248472" cy="5940088"/>
          </a:xfrm>
          <a:prstGeom prst="rect">
            <a:avLst/>
          </a:prstGeom>
          <a:noFill/>
        </p:spPr>
        <p:txBody>
          <a:bodyPr wrap="square" rtlCol="0">
            <a:spAutoFit/>
          </a:bodyPr>
          <a:lstStyle/>
          <a:p>
            <a:r>
              <a:rPr lang="en-US" b="1" dirty="0" smtClean="0">
                <a:solidFill>
                  <a:srgbClr val="002060"/>
                </a:solidFill>
              </a:rPr>
              <a:t>1. Lipstick </a:t>
            </a:r>
            <a:r>
              <a:rPr lang="en-US" b="1" dirty="0">
                <a:solidFill>
                  <a:srgbClr val="002060"/>
                </a:solidFill>
              </a:rPr>
              <a:t>– ₹4.82 Cr</a:t>
            </a:r>
          </a:p>
          <a:p>
            <a:r>
              <a:rPr lang="en-US" sz="1600" dirty="0">
                <a:solidFill>
                  <a:schemeClr val="bg1"/>
                </a:solidFill>
              </a:rPr>
              <a:t>Top-selling product → Beauty category dominated smaller-value purchases</a:t>
            </a:r>
            <a:r>
              <a:rPr lang="en-US" sz="1600" dirty="0" smtClean="0">
                <a:solidFill>
                  <a:schemeClr val="bg1"/>
                </a:solidFill>
              </a:rPr>
              <a:t>.</a:t>
            </a:r>
          </a:p>
          <a:p>
            <a:endParaRPr lang="en-US" dirty="0"/>
          </a:p>
          <a:p>
            <a:r>
              <a:rPr lang="en-US" b="1" dirty="0" smtClean="0">
                <a:solidFill>
                  <a:srgbClr val="002060"/>
                </a:solidFill>
              </a:rPr>
              <a:t>2. Children’s </a:t>
            </a:r>
            <a:r>
              <a:rPr lang="en-US" b="1" dirty="0">
                <a:solidFill>
                  <a:srgbClr val="002060"/>
                </a:solidFill>
              </a:rPr>
              <a:t>Book – ₹4.81 Cr</a:t>
            </a:r>
          </a:p>
          <a:p>
            <a:r>
              <a:rPr lang="en-US" sz="1600" dirty="0">
                <a:solidFill>
                  <a:schemeClr val="bg1"/>
                </a:solidFill>
              </a:rPr>
              <a:t>Very high demand among parents; popular as a gifting item</a:t>
            </a:r>
            <a:r>
              <a:rPr lang="en-US" sz="1600" dirty="0" smtClean="0">
                <a:solidFill>
                  <a:schemeClr val="bg1"/>
                </a:solidFill>
              </a:rPr>
              <a:t>.</a:t>
            </a:r>
          </a:p>
          <a:p>
            <a:endParaRPr lang="en-US" dirty="0">
              <a:solidFill>
                <a:srgbClr val="002060"/>
              </a:solidFill>
            </a:endParaRPr>
          </a:p>
          <a:p>
            <a:r>
              <a:rPr lang="en-US" b="1" dirty="0" smtClean="0">
                <a:solidFill>
                  <a:srgbClr val="002060"/>
                </a:solidFill>
              </a:rPr>
              <a:t>3. Headphones </a:t>
            </a:r>
            <a:r>
              <a:rPr lang="en-US" b="1" dirty="0">
                <a:solidFill>
                  <a:srgbClr val="002060"/>
                </a:solidFill>
              </a:rPr>
              <a:t>– ₹4.80 Cr</a:t>
            </a:r>
          </a:p>
          <a:p>
            <a:r>
              <a:rPr lang="en-US" sz="1600" dirty="0">
                <a:solidFill>
                  <a:schemeClr val="bg1"/>
                </a:solidFill>
              </a:rPr>
              <a:t>Festive electronics purchase with strong discount </a:t>
            </a:r>
            <a:r>
              <a:rPr lang="en-US" sz="1600" dirty="0" smtClean="0">
                <a:solidFill>
                  <a:schemeClr val="bg1"/>
                </a:solidFill>
              </a:rPr>
              <a:t>impact.</a:t>
            </a:r>
            <a:endParaRPr lang="en-US" sz="1600" dirty="0">
              <a:solidFill>
                <a:schemeClr val="bg1"/>
              </a:solidFill>
            </a:endParaRPr>
          </a:p>
          <a:p>
            <a:endParaRPr lang="en-US" dirty="0" smtClean="0"/>
          </a:p>
          <a:p>
            <a:r>
              <a:rPr lang="en-US" b="1" dirty="0" smtClean="0">
                <a:solidFill>
                  <a:srgbClr val="002060"/>
                </a:solidFill>
              </a:rPr>
              <a:t>4. Hair </a:t>
            </a:r>
            <a:r>
              <a:rPr lang="en-US" b="1" dirty="0">
                <a:solidFill>
                  <a:srgbClr val="002060"/>
                </a:solidFill>
              </a:rPr>
              <a:t>Dryer – ₹4.74 Cr</a:t>
            </a:r>
          </a:p>
          <a:p>
            <a:r>
              <a:rPr lang="en-US" sz="1600" dirty="0">
                <a:solidFill>
                  <a:schemeClr val="bg1"/>
                </a:solidFill>
              </a:rPr>
              <a:t>Grooming products in high demand during festive seasons</a:t>
            </a:r>
            <a:r>
              <a:rPr lang="en-US" sz="1600" dirty="0" smtClean="0">
                <a:solidFill>
                  <a:schemeClr val="bg1"/>
                </a:solidFill>
              </a:rPr>
              <a:t>.</a:t>
            </a:r>
          </a:p>
          <a:p>
            <a:endParaRPr lang="en-US" dirty="0">
              <a:solidFill>
                <a:srgbClr val="002060"/>
              </a:solidFill>
            </a:endParaRPr>
          </a:p>
          <a:p>
            <a:r>
              <a:rPr lang="en-US" b="1" dirty="0" smtClean="0">
                <a:solidFill>
                  <a:srgbClr val="002060"/>
                </a:solidFill>
              </a:rPr>
              <a:t>5. Perfume </a:t>
            </a:r>
            <a:r>
              <a:rPr lang="en-US" b="1" dirty="0">
                <a:solidFill>
                  <a:srgbClr val="002060"/>
                </a:solidFill>
              </a:rPr>
              <a:t>– ₹4.63 Cr</a:t>
            </a:r>
          </a:p>
          <a:p>
            <a:r>
              <a:rPr lang="en-US" sz="1600" dirty="0">
                <a:solidFill>
                  <a:schemeClr val="bg1"/>
                </a:solidFill>
              </a:rPr>
              <a:t>Classic gifting product with strong performance.</a:t>
            </a:r>
          </a:p>
          <a:p>
            <a:endParaRPr lang="en-US" dirty="0"/>
          </a:p>
          <a:p>
            <a:endParaRPr lang="en-US" dirty="0"/>
          </a:p>
          <a:p>
            <a:endParaRPr lang="en-US" dirty="0"/>
          </a:p>
        </p:txBody>
      </p:sp>
    </p:spTree>
    <p:extLst>
      <p:ext uri="{BB962C8B-B14F-4D97-AF65-F5344CB8AC3E}">
        <p14:creationId xmlns:p14="http://schemas.microsoft.com/office/powerpoint/2010/main" val="29494761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Average Rating on Product Categories</a:t>
            </a:r>
            <a:endParaRPr lang="en-IN" sz="3200"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88024" y="1844824"/>
            <a:ext cx="4228116"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79512" y="2060848"/>
            <a:ext cx="4248472" cy="1877437"/>
          </a:xfrm>
          <a:prstGeom prst="rect">
            <a:avLst/>
          </a:prstGeom>
          <a:noFill/>
        </p:spPr>
        <p:txBody>
          <a:bodyPr wrap="square" rtlCol="0">
            <a:spAutoFit/>
          </a:bodyPr>
          <a:lstStyle/>
          <a:p>
            <a:pPr marL="285750" indent="-285750">
              <a:buFont typeface="Arial" pitchFamily="34" charset="0"/>
              <a:buChar char="•"/>
            </a:pPr>
            <a:r>
              <a:rPr lang="en-US" sz="1600" dirty="0" smtClean="0">
                <a:solidFill>
                  <a:schemeClr val="bg1"/>
                </a:solidFill>
              </a:rPr>
              <a:t>Beauty </a:t>
            </a:r>
            <a:r>
              <a:rPr lang="en-US" sz="1600" dirty="0">
                <a:solidFill>
                  <a:schemeClr val="bg1"/>
                </a:solidFill>
              </a:rPr>
              <a:t>&amp; Home &amp; Kitchen products receive </a:t>
            </a:r>
            <a:r>
              <a:rPr lang="en-US" sz="1600" b="1" dirty="0">
                <a:solidFill>
                  <a:schemeClr val="bg1"/>
                </a:solidFill>
              </a:rPr>
              <a:t>higher ratings</a:t>
            </a:r>
            <a:r>
              <a:rPr lang="en-US" sz="1600" dirty="0">
                <a:solidFill>
                  <a:schemeClr val="bg1"/>
                </a:solidFill>
              </a:rPr>
              <a:t>, showing strong customer satisfaction</a:t>
            </a:r>
            <a:r>
              <a:rPr lang="en-US" sz="1600" dirty="0" smtClean="0">
                <a:solidFill>
                  <a:schemeClr val="bg1"/>
                </a:solidFill>
              </a:rPr>
              <a:t>.</a:t>
            </a:r>
          </a:p>
          <a:p>
            <a:pPr marL="285750" indent="-285750">
              <a:buFont typeface="Arial" pitchFamily="34" charset="0"/>
              <a:buChar char="•"/>
            </a:pPr>
            <a:r>
              <a:rPr lang="en-US" sz="1600" dirty="0">
                <a:solidFill>
                  <a:schemeClr val="bg1"/>
                </a:solidFill>
              </a:rPr>
              <a:t>Electronics have moderate ratings, possibly due to quality or delivery issues</a:t>
            </a:r>
            <a:r>
              <a:rPr lang="en-US" sz="1600" dirty="0" smtClean="0">
                <a:solidFill>
                  <a:schemeClr val="bg1"/>
                </a:solidFill>
              </a:rPr>
              <a:t>.</a:t>
            </a:r>
          </a:p>
          <a:p>
            <a:endParaRPr lang="en-IN" dirty="0" smtClean="0"/>
          </a:p>
          <a:p>
            <a:endParaRPr lang="en-IN" dirty="0"/>
          </a:p>
        </p:txBody>
      </p:sp>
    </p:spTree>
    <p:extLst>
      <p:ext uri="{BB962C8B-B14F-4D97-AF65-F5344CB8AC3E}">
        <p14:creationId xmlns:p14="http://schemas.microsoft.com/office/powerpoint/2010/main" val="4583903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Average Rating on Top 5 Products</a:t>
            </a:r>
            <a:endParaRPr lang="en-IN" sz="3200"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32040" y="1844824"/>
            <a:ext cx="4071764" cy="3203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763688" y="3645024"/>
            <a:ext cx="473206" cy="369332"/>
          </a:xfrm>
          <a:prstGeom prst="rect">
            <a:avLst/>
          </a:prstGeom>
          <a:noFill/>
        </p:spPr>
        <p:txBody>
          <a:bodyPr wrap="none" rtlCol="0">
            <a:spAutoFit/>
          </a:bodyPr>
          <a:lstStyle/>
          <a:p>
            <a:pPr marL="285750" indent="-285750">
              <a:buFont typeface="Arial" pitchFamily="34" charset="0"/>
              <a:buChar char="•"/>
            </a:pPr>
            <a:endParaRPr lang="en-IN" dirty="0"/>
          </a:p>
        </p:txBody>
      </p:sp>
      <p:sp>
        <p:nvSpPr>
          <p:cNvPr id="5" name="TextBox 4"/>
          <p:cNvSpPr txBox="1"/>
          <p:nvPr/>
        </p:nvSpPr>
        <p:spPr>
          <a:xfrm>
            <a:off x="323528" y="2204864"/>
            <a:ext cx="4104456" cy="1077218"/>
          </a:xfrm>
          <a:prstGeom prst="rect">
            <a:avLst/>
          </a:prstGeom>
          <a:noFill/>
        </p:spPr>
        <p:txBody>
          <a:bodyPr wrap="square" rtlCol="0">
            <a:spAutoFit/>
          </a:bodyPr>
          <a:lstStyle/>
          <a:p>
            <a:pPr marL="285750" indent="-285750">
              <a:buFont typeface="Arial" pitchFamily="34" charset="0"/>
              <a:buChar char="•"/>
            </a:pPr>
            <a:r>
              <a:rPr lang="en-US" sz="1600" dirty="0">
                <a:solidFill>
                  <a:schemeClr val="bg1"/>
                </a:solidFill>
              </a:rPr>
              <a:t>Books and personal care items have consistently high ratings.</a:t>
            </a:r>
          </a:p>
          <a:p>
            <a:pPr marL="285750" indent="-285750">
              <a:buFont typeface="Arial" pitchFamily="34" charset="0"/>
              <a:buChar char="•"/>
            </a:pPr>
            <a:r>
              <a:rPr lang="en-US" sz="1600" dirty="0">
                <a:solidFill>
                  <a:schemeClr val="bg1"/>
                </a:solidFill>
              </a:rPr>
              <a:t>Gadgets show mixed ratings based on quality/durability feedback.</a:t>
            </a:r>
            <a:endParaRPr lang="en-IN" sz="1600" dirty="0">
              <a:solidFill>
                <a:schemeClr val="bg1"/>
              </a:solidFill>
            </a:endParaRPr>
          </a:p>
        </p:txBody>
      </p:sp>
    </p:spTree>
    <p:extLst>
      <p:ext uri="{BB962C8B-B14F-4D97-AF65-F5344CB8AC3E}">
        <p14:creationId xmlns:p14="http://schemas.microsoft.com/office/powerpoint/2010/main" val="14421226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Review Text Analysis</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64088" y="1844824"/>
            <a:ext cx="3139712" cy="294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95536" y="2420888"/>
            <a:ext cx="4536504" cy="1354217"/>
          </a:xfrm>
          <a:prstGeom prst="rect">
            <a:avLst/>
          </a:prstGeom>
          <a:noFill/>
        </p:spPr>
        <p:txBody>
          <a:bodyPr wrap="square" rtlCol="0">
            <a:spAutoFit/>
          </a:bodyPr>
          <a:lstStyle/>
          <a:p>
            <a:pPr marL="285750" indent="-285750">
              <a:buFont typeface="Arial" pitchFamily="34" charset="0"/>
              <a:buChar char="•"/>
            </a:pPr>
            <a:r>
              <a:rPr lang="en-US" sz="1600" dirty="0">
                <a:solidFill>
                  <a:schemeClr val="bg1"/>
                </a:solidFill>
              </a:rPr>
              <a:t>Top reviews indicate:</a:t>
            </a:r>
            <a:br>
              <a:rPr lang="en-US" sz="1600" dirty="0">
                <a:solidFill>
                  <a:schemeClr val="bg1"/>
                </a:solidFill>
              </a:rPr>
            </a:br>
            <a:r>
              <a:rPr lang="en-US" sz="1600" dirty="0">
                <a:solidFill>
                  <a:schemeClr val="bg1"/>
                </a:solidFill>
              </a:rPr>
              <a:t>“Excellent product”, “Fantastic quality”, “Highly recommend” — strong trust indicators</a:t>
            </a:r>
            <a:r>
              <a:rPr lang="en-US" sz="1600" dirty="0" smtClean="0">
                <a:solidFill>
                  <a:schemeClr val="bg1"/>
                </a:solidFill>
              </a:rPr>
              <a:t>.</a:t>
            </a:r>
          </a:p>
          <a:p>
            <a:pPr marL="285750" indent="-285750">
              <a:buFont typeface="Arial" pitchFamily="34" charset="0"/>
              <a:buChar char="•"/>
            </a:pPr>
            <a:r>
              <a:rPr lang="en-IN" sz="1600" dirty="0">
                <a:solidFill>
                  <a:schemeClr val="bg1"/>
                </a:solidFill>
              </a:rPr>
              <a:t>Positive sentiment dominates feedback.</a:t>
            </a:r>
          </a:p>
        </p:txBody>
      </p:sp>
    </p:spTree>
    <p:extLst>
      <p:ext uri="{BB962C8B-B14F-4D97-AF65-F5344CB8AC3E}">
        <p14:creationId xmlns:p14="http://schemas.microsoft.com/office/powerpoint/2010/main" val="3761057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Monthly Sales Trends</a:t>
            </a:r>
            <a:endParaRPr lang="en-IN" dirty="0"/>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1844825"/>
            <a:ext cx="4030018"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45231" y="2636912"/>
            <a:ext cx="3456384" cy="1077218"/>
          </a:xfrm>
          <a:prstGeom prst="rect">
            <a:avLst/>
          </a:prstGeom>
          <a:noFill/>
        </p:spPr>
        <p:txBody>
          <a:bodyPr wrap="square" rtlCol="0">
            <a:spAutoFit/>
          </a:bodyPr>
          <a:lstStyle/>
          <a:p>
            <a:pPr marL="285750" indent="-285750">
              <a:buFont typeface="Arial" pitchFamily="34" charset="0"/>
              <a:buChar char="•"/>
            </a:pPr>
            <a:r>
              <a:rPr lang="en-US" sz="1600" dirty="0">
                <a:solidFill>
                  <a:schemeClr val="bg1"/>
                </a:solidFill>
              </a:rPr>
              <a:t>Highest sales in </a:t>
            </a:r>
            <a:r>
              <a:rPr lang="en-US" sz="1600" b="1" dirty="0">
                <a:solidFill>
                  <a:schemeClr val="bg1"/>
                </a:solidFill>
              </a:rPr>
              <a:t>August</a:t>
            </a:r>
            <a:r>
              <a:rPr lang="en-US" sz="1600" dirty="0">
                <a:solidFill>
                  <a:schemeClr val="bg1"/>
                </a:solidFill>
              </a:rPr>
              <a:t>, </a:t>
            </a:r>
            <a:r>
              <a:rPr lang="en-US" sz="1600" b="1" dirty="0">
                <a:solidFill>
                  <a:schemeClr val="bg1"/>
                </a:solidFill>
              </a:rPr>
              <a:t>December</a:t>
            </a:r>
            <a:r>
              <a:rPr lang="en-US" sz="1600" dirty="0">
                <a:solidFill>
                  <a:schemeClr val="bg1"/>
                </a:solidFill>
              </a:rPr>
              <a:t>, and </a:t>
            </a:r>
            <a:r>
              <a:rPr lang="en-US" sz="1600" b="1" dirty="0">
                <a:solidFill>
                  <a:schemeClr val="bg1"/>
                </a:solidFill>
              </a:rPr>
              <a:t>November</a:t>
            </a:r>
            <a:r>
              <a:rPr lang="en-US" sz="1600" dirty="0" smtClean="0">
                <a:solidFill>
                  <a:schemeClr val="bg1"/>
                </a:solidFill>
              </a:rPr>
              <a:t>.</a:t>
            </a:r>
          </a:p>
          <a:p>
            <a:pPr marL="285750" indent="-285750">
              <a:buFont typeface="Arial" pitchFamily="34" charset="0"/>
              <a:buChar char="•"/>
            </a:pPr>
            <a:r>
              <a:rPr lang="en-US" sz="1600" dirty="0">
                <a:solidFill>
                  <a:schemeClr val="bg1"/>
                </a:solidFill>
              </a:rPr>
              <a:t>Festive months drive peak revenue.</a:t>
            </a:r>
            <a:endParaRPr lang="en-IN" sz="1600" dirty="0">
              <a:solidFill>
                <a:schemeClr val="bg1"/>
              </a:solidFill>
            </a:endParaRPr>
          </a:p>
        </p:txBody>
      </p:sp>
    </p:spTree>
    <p:extLst>
      <p:ext uri="{BB962C8B-B14F-4D97-AF65-F5344CB8AC3E}">
        <p14:creationId xmlns:p14="http://schemas.microsoft.com/office/powerpoint/2010/main" val="20189085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Weekly Sales Trends</a:t>
            </a:r>
            <a:endParaRPr lang="en-IN" sz="3200" dirty="0"/>
          </a:p>
        </p:txBody>
      </p:sp>
      <p:pic>
        <p:nvPicPr>
          <p:cNvPr id="1024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88024" y="2060848"/>
            <a:ext cx="4128192"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755576" y="2564904"/>
            <a:ext cx="3240360" cy="1077218"/>
          </a:xfrm>
          <a:prstGeom prst="rect">
            <a:avLst/>
          </a:prstGeom>
          <a:noFill/>
        </p:spPr>
        <p:txBody>
          <a:bodyPr wrap="square" rtlCol="0">
            <a:spAutoFit/>
          </a:bodyPr>
          <a:lstStyle/>
          <a:p>
            <a:pPr marL="285750" indent="-285750">
              <a:buFont typeface="Arial" pitchFamily="34" charset="0"/>
              <a:buChar char="•"/>
            </a:pPr>
            <a:r>
              <a:rPr lang="en-US" sz="1600" b="1" dirty="0">
                <a:solidFill>
                  <a:schemeClr val="bg1"/>
                </a:solidFill>
              </a:rPr>
              <a:t>Monday and Sunday</a:t>
            </a:r>
            <a:r>
              <a:rPr lang="en-US" sz="1600" dirty="0">
                <a:solidFill>
                  <a:schemeClr val="bg1"/>
                </a:solidFill>
              </a:rPr>
              <a:t> generate the highest revenue</a:t>
            </a:r>
            <a:r>
              <a:rPr lang="en-US" sz="1600" dirty="0" smtClean="0">
                <a:solidFill>
                  <a:schemeClr val="bg1"/>
                </a:solidFill>
              </a:rPr>
              <a:t>.</a:t>
            </a:r>
          </a:p>
          <a:p>
            <a:pPr marL="285750" indent="-285750">
              <a:buFont typeface="Arial" pitchFamily="34" charset="0"/>
              <a:buChar char="•"/>
            </a:pPr>
            <a:r>
              <a:rPr lang="en-IN" sz="1600" b="1" dirty="0">
                <a:solidFill>
                  <a:schemeClr val="bg1"/>
                </a:solidFill>
              </a:rPr>
              <a:t>Wednesday</a:t>
            </a:r>
            <a:r>
              <a:rPr lang="en-IN" sz="1600" dirty="0">
                <a:solidFill>
                  <a:schemeClr val="bg1"/>
                </a:solidFill>
              </a:rPr>
              <a:t> shows lowest sales.</a:t>
            </a:r>
          </a:p>
        </p:txBody>
      </p:sp>
    </p:spTree>
    <p:extLst>
      <p:ext uri="{BB962C8B-B14F-4D97-AF65-F5344CB8AC3E}">
        <p14:creationId xmlns:p14="http://schemas.microsoft.com/office/powerpoint/2010/main" val="31081107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Daily Sales Trends</a:t>
            </a:r>
            <a:endParaRPr lang="en-IN" sz="3200" dirty="0"/>
          </a:p>
        </p:txBody>
      </p:sp>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11960" y="1844824"/>
            <a:ext cx="4564772"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23528" y="2060848"/>
            <a:ext cx="3384376" cy="584775"/>
          </a:xfrm>
          <a:prstGeom prst="rect">
            <a:avLst/>
          </a:prstGeom>
          <a:noFill/>
        </p:spPr>
        <p:txBody>
          <a:bodyPr wrap="square" rtlCol="0">
            <a:spAutoFit/>
          </a:bodyPr>
          <a:lstStyle/>
          <a:p>
            <a:r>
              <a:rPr lang="en-US" sz="1600" dirty="0">
                <a:solidFill>
                  <a:schemeClr val="bg1"/>
                </a:solidFill>
              </a:rPr>
              <a:t>Revenue remains consistent across the month → no daily spikes.</a:t>
            </a:r>
            <a:endParaRPr lang="en-IN" sz="1600" dirty="0">
              <a:solidFill>
                <a:schemeClr val="bg1"/>
              </a:solidFill>
            </a:endParaRPr>
          </a:p>
        </p:txBody>
      </p:sp>
    </p:spTree>
    <p:extLst>
      <p:ext uri="{BB962C8B-B14F-4D97-AF65-F5344CB8AC3E}">
        <p14:creationId xmlns:p14="http://schemas.microsoft.com/office/powerpoint/2010/main" val="23873034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Payment Method Performance</a:t>
            </a:r>
            <a:endParaRPr lang="en-IN" sz="3200" dirty="0"/>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99992" y="1844824"/>
            <a:ext cx="4321696"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83568" y="2276872"/>
            <a:ext cx="3283271" cy="1354217"/>
          </a:xfrm>
          <a:prstGeom prst="rect">
            <a:avLst/>
          </a:prstGeom>
          <a:noFill/>
        </p:spPr>
        <p:txBody>
          <a:bodyPr wrap="none" rtlCol="0">
            <a:spAutoFit/>
          </a:bodyPr>
          <a:lstStyle/>
          <a:p>
            <a:r>
              <a:rPr lang="en-IN" b="1" dirty="0">
                <a:solidFill>
                  <a:srgbClr val="002060"/>
                </a:solidFill>
              </a:rPr>
              <a:t>Highest Revenue</a:t>
            </a:r>
            <a:r>
              <a:rPr lang="en-IN" b="1" dirty="0" smtClean="0">
                <a:solidFill>
                  <a:srgbClr val="002060"/>
                </a:solidFill>
              </a:rPr>
              <a:t>:</a:t>
            </a:r>
          </a:p>
          <a:p>
            <a:pPr marL="285750" indent="-285750">
              <a:buFont typeface="Arial" pitchFamily="34" charset="0"/>
              <a:buChar char="•"/>
            </a:pPr>
            <a:r>
              <a:rPr lang="en-IN" sz="1600" dirty="0">
                <a:solidFill>
                  <a:schemeClr val="bg1"/>
                </a:solidFill>
              </a:rPr>
              <a:t>Credit Card (₹286.89 Cr</a:t>
            </a:r>
            <a:r>
              <a:rPr lang="en-IN" sz="1600" dirty="0" smtClean="0">
                <a:solidFill>
                  <a:schemeClr val="bg1"/>
                </a:solidFill>
              </a:rPr>
              <a:t>)</a:t>
            </a:r>
          </a:p>
          <a:p>
            <a:pPr marL="285750" indent="-285750">
              <a:buFont typeface="Arial" pitchFamily="34" charset="0"/>
              <a:buChar char="•"/>
            </a:pPr>
            <a:r>
              <a:rPr lang="en-US" sz="1600" dirty="0">
                <a:solidFill>
                  <a:schemeClr val="bg1"/>
                </a:solidFill>
              </a:rPr>
              <a:t>Cash On Delivery (₹286.51 Cr</a:t>
            </a:r>
            <a:r>
              <a:rPr lang="en-US" sz="1600" dirty="0" smtClean="0">
                <a:solidFill>
                  <a:schemeClr val="bg1"/>
                </a:solidFill>
              </a:rPr>
              <a:t>) </a:t>
            </a:r>
          </a:p>
          <a:p>
            <a:pPr marL="285750" indent="-285750">
              <a:buFont typeface="Arial" pitchFamily="34" charset="0"/>
              <a:buChar char="•"/>
            </a:pPr>
            <a:r>
              <a:rPr lang="en-IN" sz="1600" dirty="0">
                <a:solidFill>
                  <a:schemeClr val="bg1"/>
                </a:solidFill>
              </a:rPr>
              <a:t>Debit Card (₹273.04 Cr</a:t>
            </a:r>
            <a:r>
              <a:rPr lang="en-IN" sz="1600" dirty="0" smtClean="0">
                <a:solidFill>
                  <a:schemeClr val="bg1"/>
                </a:solidFill>
              </a:rPr>
              <a:t>)</a:t>
            </a:r>
          </a:p>
          <a:p>
            <a:pPr marL="285750" indent="-285750">
              <a:buFont typeface="Arial" pitchFamily="34" charset="0"/>
              <a:buChar char="•"/>
            </a:pPr>
            <a:r>
              <a:rPr lang="en-IN" sz="1600" dirty="0">
                <a:solidFill>
                  <a:schemeClr val="bg1"/>
                </a:solidFill>
              </a:rPr>
              <a:t>UPI (₹271.72 Cr)</a:t>
            </a:r>
            <a:endParaRPr lang="en-IN" sz="1600" b="1" dirty="0">
              <a:solidFill>
                <a:schemeClr val="bg1"/>
              </a:solidFill>
            </a:endParaRPr>
          </a:p>
        </p:txBody>
      </p:sp>
    </p:spTree>
    <p:extLst>
      <p:ext uri="{BB962C8B-B14F-4D97-AF65-F5344CB8AC3E}">
        <p14:creationId xmlns:p14="http://schemas.microsoft.com/office/powerpoint/2010/main" val="9578022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Delivery Performance</a:t>
            </a:r>
            <a:endParaRPr lang="en-IN" sz="3200" dirty="0"/>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36096" y="1628800"/>
            <a:ext cx="3223260" cy="3139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95536" y="2276872"/>
            <a:ext cx="4608511" cy="861774"/>
          </a:xfrm>
          <a:prstGeom prst="rect">
            <a:avLst/>
          </a:prstGeom>
          <a:noFill/>
        </p:spPr>
        <p:txBody>
          <a:bodyPr wrap="square" rtlCol="0">
            <a:spAutoFit/>
          </a:bodyPr>
          <a:lstStyle/>
          <a:p>
            <a:pPr marL="285750" indent="-285750">
              <a:buFont typeface="Arial" pitchFamily="34" charset="0"/>
              <a:buChar char="•"/>
            </a:pPr>
            <a:r>
              <a:rPr lang="en-IN" sz="1600" dirty="0">
                <a:solidFill>
                  <a:schemeClr val="bg1"/>
                </a:solidFill>
              </a:rPr>
              <a:t>Delivered: 5075 orders (highest</a:t>
            </a:r>
            <a:r>
              <a:rPr lang="en-IN" sz="1600" dirty="0" smtClean="0">
                <a:solidFill>
                  <a:schemeClr val="bg1"/>
                </a:solidFill>
              </a:rPr>
              <a:t>)</a:t>
            </a:r>
          </a:p>
          <a:p>
            <a:pPr marL="285750" indent="-285750">
              <a:buFont typeface="Arial" pitchFamily="34" charset="0"/>
              <a:buChar char="•"/>
            </a:pPr>
            <a:r>
              <a:rPr lang="en-US" sz="1600" dirty="0">
                <a:solidFill>
                  <a:schemeClr val="bg1"/>
                </a:solidFill>
              </a:rPr>
              <a:t>Pending: 5044 orders (almost equal</a:t>
            </a:r>
            <a:r>
              <a:rPr lang="en-US" sz="1600" dirty="0" smtClean="0">
                <a:solidFill>
                  <a:schemeClr val="bg1"/>
                </a:solidFill>
              </a:rPr>
              <a:t>)</a:t>
            </a:r>
          </a:p>
          <a:p>
            <a:pPr marL="285750" indent="-285750">
              <a:buFont typeface="Arial" pitchFamily="34" charset="0"/>
              <a:buChar char="•"/>
            </a:pPr>
            <a:r>
              <a:rPr lang="en-IN" sz="1600" dirty="0">
                <a:solidFill>
                  <a:schemeClr val="bg1"/>
                </a:solidFill>
              </a:rPr>
              <a:t>Returned: 4881 orders</a:t>
            </a:r>
          </a:p>
        </p:txBody>
      </p:sp>
    </p:spTree>
    <p:extLst>
      <p:ext uri="{BB962C8B-B14F-4D97-AF65-F5344CB8AC3E}">
        <p14:creationId xmlns:p14="http://schemas.microsoft.com/office/powerpoint/2010/main" val="12950840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Sales Performance in Top 10 State</a:t>
            </a:r>
            <a:endParaRPr lang="en-IN" sz="3200" dirty="0"/>
          </a:p>
        </p:txBody>
      </p:sp>
      <p:pic>
        <p:nvPicPr>
          <p:cNvPr id="14339"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67944" y="1844824"/>
            <a:ext cx="4896544"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11560" y="2420888"/>
            <a:ext cx="2659702" cy="1661993"/>
          </a:xfrm>
          <a:prstGeom prst="rect">
            <a:avLst/>
          </a:prstGeom>
          <a:noFill/>
        </p:spPr>
        <p:txBody>
          <a:bodyPr wrap="none" rtlCol="0">
            <a:spAutoFit/>
          </a:bodyPr>
          <a:lstStyle/>
          <a:p>
            <a:r>
              <a:rPr lang="en-IN" b="1" dirty="0">
                <a:solidFill>
                  <a:srgbClr val="002060"/>
                </a:solidFill>
              </a:rPr>
              <a:t>Top States by Revenue</a:t>
            </a:r>
            <a:r>
              <a:rPr lang="en-IN" b="1" dirty="0" smtClean="0">
                <a:solidFill>
                  <a:srgbClr val="002060"/>
                </a:solidFill>
              </a:rPr>
              <a:t>:</a:t>
            </a:r>
          </a:p>
          <a:p>
            <a:pPr marL="285750" indent="-285750">
              <a:buFont typeface="Arial" pitchFamily="34" charset="0"/>
              <a:buChar char="•"/>
            </a:pPr>
            <a:r>
              <a:rPr lang="en-IN" sz="1600" dirty="0" smtClean="0">
                <a:solidFill>
                  <a:schemeClr val="bg1"/>
                </a:solidFill>
              </a:rPr>
              <a:t>Maharashtra</a:t>
            </a:r>
          </a:p>
          <a:p>
            <a:pPr marL="285750" indent="-285750">
              <a:buFont typeface="Arial" pitchFamily="34" charset="0"/>
              <a:buChar char="•"/>
            </a:pPr>
            <a:r>
              <a:rPr lang="en-IN" sz="1600" dirty="0" smtClean="0">
                <a:solidFill>
                  <a:schemeClr val="bg1"/>
                </a:solidFill>
              </a:rPr>
              <a:t>Karnataka</a:t>
            </a:r>
          </a:p>
          <a:p>
            <a:pPr marL="285750" indent="-285750">
              <a:buFont typeface="Arial" pitchFamily="34" charset="0"/>
              <a:buChar char="•"/>
            </a:pPr>
            <a:r>
              <a:rPr lang="en-IN" sz="1600" dirty="0">
                <a:solidFill>
                  <a:schemeClr val="bg1"/>
                </a:solidFill>
              </a:rPr>
              <a:t>Tamil </a:t>
            </a:r>
            <a:r>
              <a:rPr lang="en-IN" sz="1600" dirty="0" smtClean="0">
                <a:solidFill>
                  <a:schemeClr val="bg1"/>
                </a:solidFill>
              </a:rPr>
              <a:t>Nadu</a:t>
            </a:r>
          </a:p>
          <a:p>
            <a:pPr marL="285750" indent="-285750">
              <a:buFont typeface="Arial" pitchFamily="34" charset="0"/>
              <a:buChar char="•"/>
            </a:pPr>
            <a:r>
              <a:rPr lang="en-IN" sz="1600" dirty="0">
                <a:solidFill>
                  <a:schemeClr val="bg1"/>
                </a:solidFill>
              </a:rPr>
              <a:t>Uttar </a:t>
            </a:r>
            <a:r>
              <a:rPr lang="en-IN" sz="1600" dirty="0" smtClean="0">
                <a:solidFill>
                  <a:schemeClr val="bg1"/>
                </a:solidFill>
              </a:rPr>
              <a:t>Pradesh</a:t>
            </a:r>
          </a:p>
          <a:p>
            <a:pPr marL="285750" indent="-285750">
              <a:buFont typeface="Arial" pitchFamily="34" charset="0"/>
              <a:buChar char="•"/>
            </a:pPr>
            <a:r>
              <a:rPr lang="en-IN" sz="1600" dirty="0">
                <a:solidFill>
                  <a:schemeClr val="bg1"/>
                </a:solidFill>
              </a:rPr>
              <a:t>West Bengal</a:t>
            </a:r>
            <a:endParaRPr lang="en-US" sz="1600" b="1" dirty="0">
              <a:solidFill>
                <a:schemeClr val="bg1"/>
              </a:solidFill>
            </a:endParaRPr>
          </a:p>
        </p:txBody>
      </p:sp>
    </p:spTree>
    <p:extLst>
      <p:ext uri="{BB962C8B-B14F-4D97-AF65-F5344CB8AC3E}">
        <p14:creationId xmlns:p14="http://schemas.microsoft.com/office/powerpoint/2010/main" val="27314699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Revenue </a:t>
            </a:r>
            <a:r>
              <a:rPr lang="en-US" sz="3200" dirty="0" err="1" smtClean="0"/>
              <a:t>Dashbord</a:t>
            </a:r>
            <a:endParaRPr lang="en-IN" sz="3200"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48569"/>
            <a:ext cx="8229600" cy="4611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04690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Review Dashboard</a:t>
            </a:r>
            <a:endParaRPr lang="en-IN" sz="3200"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34647"/>
            <a:ext cx="8229600" cy="4639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98701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Business Insights</a:t>
            </a:r>
            <a:endParaRPr lang="en-IN" sz="3200" dirty="0"/>
          </a:p>
        </p:txBody>
      </p:sp>
      <p:sp>
        <p:nvSpPr>
          <p:cNvPr id="4" name="TextBox 3"/>
          <p:cNvSpPr txBox="1"/>
          <p:nvPr/>
        </p:nvSpPr>
        <p:spPr>
          <a:xfrm>
            <a:off x="539552" y="1700808"/>
            <a:ext cx="8188555" cy="1323439"/>
          </a:xfrm>
          <a:prstGeom prst="rect">
            <a:avLst/>
          </a:prstGeom>
          <a:noFill/>
        </p:spPr>
        <p:txBody>
          <a:bodyPr wrap="square" rtlCol="0">
            <a:spAutoFit/>
          </a:bodyPr>
          <a:lstStyle/>
          <a:p>
            <a:pPr>
              <a:buFont typeface="Arial" pitchFamily="34" charset="0"/>
              <a:buChar char="•"/>
            </a:pPr>
            <a:r>
              <a:rPr lang="en-US" sz="1600" dirty="0"/>
              <a:t>Amazon’s sales show strong performance across key categories with high customer engagement. Revenue is driven mainly by premium-priced and high-quantity orders, while customer feedback stays largely positive. Major states and payment methods contribute consistently to sales. However, high pending/returned orders highlight a need for improved delivery and logistics efficiency.</a:t>
            </a:r>
            <a:endParaRPr lang="en-US" sz="1600" dirty="0">
              <a:latin typeface="Georgia" pitchFamily="18" charset="0"/>
            </a:endParaRPr>
          </a:p>
        </p:txBody>
      </p:sp>
    </p:spTree>
    <p:extLst>
      <p:ext uri="{BB962C8B-B14F-4D97-AF65-F5344CB8AC3E}">
        <p14:creationId xmlns:p14="http://schemas.microsoft.com/office/powerpoint/2010/main" val="1969997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492896"/>
            <a:ext cx="8229600" cy="1143000"/>
          </a:xfrm>
        </p:spPr>
        <p:txBody>
          <a:bodyPr/>
          <a:lstStyle/>
          <a:p>
            <a:r>
              <a:rPr lang="en-US" dirty="0" smtClean="0"/>
              <a:t>Thank You!</a:t>
            </a:r>
            <a:endParaRPr lang="en-IN" dirty="0"/>
          </a:p>
        </p:txBody>
      </p:sp>
    </p:spTree>
    <p:extLst>
      <p:ext uri="{BB962C8B-B14F-4D97-AF65-F5344CB8AC3E}">
        <p14:creationId xmlns:p14="http://schemas.microsoft.com/office/powerpoint/2010/main" val="342976737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181</TotalTime>
  <Words>557</Words>
  <Application>Microsoft Office PowerPoint</Application>
  <PresentationFormat>On-screen Show (4:3)</PresentationFormat>
  <Paragraphs>106</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Apex</vt:lpstr>
      <vt:lpstr>Sales Analysis</vt:lpstr>
      <vt:lpstr>Introduction</vt:lpstr>
      <vt:lpstr>Tech &amp; Skills</vt:lpstr>
      <vt:lpstr>Distribution of Price</vt:lpstr>
      <vt:lpstr>Correlation Heatmap</vt:lpstr>
      <vt:lpstr>Top Performing Product</vt:lpstr>
      <vt:lpstr>Top Performing of Best 5 Products</vt:lpstr>
      <vt:lpstr>Average Rating on Product Categories</vt:lpstr>
      <vt:lpstr>Average Rating on Top 5 Products</vt:lpstr>
      <vt:lpstr>Review Text Analysis</vt:lpstr>
      <vt:lpstr>Monthly Sales Trends</vt:lpstr>
      <vt:lpstr>Weekly Sales Trends</vt:lpstr>
      <vt:lpstr>Daily Sales Trends</vt:lpstr>
      <vt:lpstr>Payment Method Performance</vt:lpstr>
      <vt:lpstr>Delivery Performance</vt:lpstr>
      <vt:lpstr>Sales Performance in Top 10 State</vt:lpstr>
      <vt:lpstr>Revenue Dashbord</vt:lpstr>
      <vt:lpstr>Review Dashboard</vt:lpstr>
      <vt:lpstr>Business Insights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Diwali Sles Analysis</dc:title>
  <dc:creator>dell</dc:creator>
  <cp:lastModifiedBy>dell</cp:lastModifiedBy>
  <cp:revision>19</cp:revision>
  <dcterms:created xsi:type="dcterms:W3CDTF">2025-11-19T16:38:59Z</dcterms:created>
  <dcterms:modified xsi:type="dcterms:W3CDTF">2025-11-20T05:42:46Z</dcterms:modified>
</cp:coreProperties>
</file>